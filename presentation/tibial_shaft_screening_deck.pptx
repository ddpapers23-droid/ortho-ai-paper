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Excluded (n=55)</c:v>
                </c:pt>
              </c:strCache>
            </c:strRef>
          </c:tx>
          <c:spPr>
            <a:solidFill>
              <a:srgbClr val="4865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02A4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Hardware /
post-op</c:v>
                  </c:pt>
                  <c:pt idx="1">
                    <c:v>Plateau /
pilon site</c:v>
                  </c:pt>
                  <c:pt idx="2">
                    <c:v>Quality /
unconfirmed</c:v>
                  </c:pt>
                  <c:pt idx="3">
                    <c:v>Pediatric</c:v>
                  </c:pt>
                  <c:pt idx="4">
                    <c:v>Other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</c:v>
                </c:pt>
                <c:pt idx="1">
                  <c:v>13</c:v>
                </c:pt>
                <c:pt idx="2">
                  <c:v>8</c:v>
                </c:pt>
                <c:pt idx="3">
                  <c:v>5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02A4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CE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7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6.png"/><Relationship Id="rId7" Type="http://schemas.openxmlformats.org/officeDocument/2006/relationships/image" Target="../media/image-4-6.png"/><Relationship Id="rId8" Type="http://schemas.openxmlformats.org/officeDocument/2006/relationships/image" Target="../media/image-4-6.png"/><Relationship Id="rId9" Type="http://schemas.openxmlformats.org/officeDocument/2006/relationships/image" Target="../media/image-4-6.png"/><Relationship Id="rId10" Type="http://schemas.openxmlformats.org/officeDocument/2006/relationships/image" Target="../media/image-4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9189720" y="2606040"/>
            <a:ext cx="2194560" cy="2194560"/>
          </a:xfrm>
          <a:prstGeom prst="ellipse">
            <a:avLst/>
          </a:prstGeom>
          <a:solidFill>
            <a:srgbClr val="486581"/>
          </a:solidFill>
          <a:ln/>
        </p:spPr>
      </p:sp>
      <p:pic>
        <p:nvPicPr>
          <p:cNvPr id="4" name="Image 0" descr="/tmp/claude-0/-home-user-paper/35649aa5-a63d-5174-99fb-73698c174eb2/scratchpad/deck/icon_xray_F0B4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0" y="3086100"/>
            <a:ext cx="123444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830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TIBIAL SHAFT FRACTURE DATASET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148840"/>
            <a:ext cx="7589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Curating a Clean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Fracture Dataset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8640" y="425196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criterion-driven, fully auditable screening pipeline for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curating AI-ready orthopedic trauma imaging data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Research Conference  •  Ortho AI Paper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309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only as good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the data behind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5" name="Image 0" descr="/tmp/claude-0/-home-user-paper/35649aa5-a63d-5174-99fb-73698c174eb2/scratchpad/deck/icon_search_F0B4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4460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30428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fracture datasets are noisy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34440" y="263347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anatomy, mixed ages, and mixed image quality — rarely curated for one specific fracture pattern.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9" name="Image 1" descr="/tmp/claude-0/-home-user-paper/35649aa5-a63d-5174-99fb-73698c174eb2/scratchpad/deck/icon_times_F0B4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34975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35584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“Fractured” ≠ “usable”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34440" y="368503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labeled fracture image may show the wrong bone, the wrong age group, or post-op hardware.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13" name="Image 2" descr="/tmp/claude-0/-home-user-paper/35649aa5-a63d-5174-99fb-73698c174eb2/scratchpad/deck/icon_crosshairs_F0B42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45491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4074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34440" y="473659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detection or classification model trained on mislabeled anatomy inherits that error silently.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040880" y="822960"/>
            <a:ext cx="4526280" cy="5074920"/>
          </a:xfrm>
          <a:prstGeom prst="roundRect">
            <a:avLst>
              <a:gd name="adj" fmla="val 2424"/>
            </a:avLst>
          </a:prstGeom>
          <a:solidFill>
            <a:srgbClr val="EEF2F6"/>
          </a:solidFill>
          <a:ln/>
        </p:spPr>
      </p:sp>
      <p:sp>
        <p:nvSpPr>
          <p:cNvPr id="17" name="Text 12"/>
          <p:cNvSpPr/>
          <p:nvPr/>
        </p:nvSpPr>
        <p:spPr>
          <a:xfrm>
            <a:off x="7360920" y="11430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360920" y="150876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“Of every image labeled</a:t>
            </a:r>
            <a:endParaRPr lang="en-US" sz="2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‘fractured,’ how many are</a:t>
            </a:r>
            <a:endParaRPr lang="en-US" sz="2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actually a clean, adult</a:t>
            </a:r>
            <a:endParaRPr lang="en-US" sz="2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tibial shaft fracture?”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7360920" y="3886200"/>
            <a:ext cx="393192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360920" y="411480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answers that question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— and the answer itself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publishable finding.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Tibial Shaft Fracture Screening  •  Ortho AI Paper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started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7864" cy="1417320"/>
          </a:xfrm>
          <a:prstGeom prst="roundRect">
            <a:avLst>
              <a:gd name="adj" fmla="val 6452"/>
            </a:avLst>
          </a:prstGeom>
          <a:solidFill>
            <a:srgbClr val="102A4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2567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4,082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2293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radiographs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0824" y="1600200"/>
            <a:ext cx="2567864" cy="1417320"/>
          </a:xfrm>
          <a:prstGeom prst="roundRect">
            <a:avLst>
              <a:gd name="adj" fmla="val 6452"/>
            </a:avLst>
          </a:prstGeom>
          <a:solidFill>
            <a:srgbClr val="102A43"/>
          </a:solidFill>
          <a:ln/>
        </p:spPr>
      </p:sp>
      <p:sp>
        <p:nvSpPr>
          <p:cNvPr id="8" name="Text 6"/>
          <p:cNvSpPr/>
          <p:nvPr/>
        </p:nvSpPr>
        <p:spPr>
          <a:xfrm>
            <a:off x="3390824" y="1737360"/>
            <a:ext cx="2567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7984" y="2423160"/>
            <a:ext cx="2293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“fractured”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1600200"/>
            <a:ext cx="2567864" cy="1417320"/>
          </a:xfrm>
          <a:prstGeom prst="roundRect">
            <a:avLst>
              <a:gd name="adj" fmla="val 6452"/>
            </a:avLst>
          </a:prstGeom>
          <a:solidFill>
            <a:srgbClr val="102A43"/>
          </a:solidFill>
          <a:ln/>
        </p:spPr>
      </p:sp>
      <p:sp>
        <p:nvSpPr>
          <p:cNvPr id="11" name="Text 9"/>
          <p:cNvSpPr/>
          <p:nvPr/>
        </p:nvSpPr>
        <p:spPr>
          <a:xfrm>
            <a:off x="6233008" y="1737360"/>
            <a:ext cx="2567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3,366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70168" y="2423160"/>
            <a:ext cx="2293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“non-fractured”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75191" y="1600200"/>
            <a:ext cx="2567864" cy="1417320"/>
          </a:xfrm>
          <a:prstGeom prst="roundRect">
            <a:avLst>
              <a:gd name="adj" fmla="val 6452"/>
            </a:avLst>
          </a:prstGeom>
          <a:solidFill>
            <a:srgbClr val="102A43"/>
          </a:solidFill>
          <a:ln/>
        </p:spPr>
      </p:sp>
      <p:sp>
        <p:nvSpPr>
          <p:cNvPr id="14" name="Text 12"/>
          <p:cNvSpPr/>
          <p:nvPr/>
        </p:nvSpPr>
        <p:spPr>
          <a:xfrm>
            <a:off x="9075191" y="1737360"/>
            <a:ext cx="2567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12351" y="2423160"/>
            <a:ext cx="2293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formats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orthopedic-trauma image collection — not curated for any single fracture type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2602154" cy="1965960"/>
          </a:xfrm>
          <a:prstGeom prst="roundRect">
            <a:avLst>
              <a:gd name="adj" fmla="val 4651"/>
            </a:avLst>
          </a:prstGeom>
          <a:solidFill>
            <a:srgbClr val="EEF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1529677" y="4069080"/>
            <a:ext cx="640080" cy="640080"/>
          </a:xfrm>
          <a:prstGeom prst="ellipse">
            <a:avLst/>
          </a:prstGeom>
          <a:solidFill>
            <a:srgbClr val="486581"/>
          </a:solidFill>
          <a:ln/>
        </p:spPr>
      </p:sp>
      <p:pic>
        <p:nvPicPr>
          <p:cNvPr id="19" name="Image 0" descr="/tmp/claude-0/-home-user-paper/35649aa5-a63d-5174-99fb-73698c174eb2/scratchpad/deck/icon_chi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5981" y="4215384"/>
            <a:ext cx="34747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85800" y="4846320"/>
            <a:ext cx="232783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&amp; adult mixed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379394" y="3840480"/>
            <a:ext cx="2602154" cy="1965960"/>
          </a:xfrm>
          <a:prstGeom prst="roundRect">
            <a:avLst>
              <a:gd name="adj" fmla="val 4651"/>
            </a:avLst>
          </a:prstGeom>
          <a:solidFill>
            <a:srgbClr val="EEF2F6"/>
          </a:solidFill>
          <a:ln/>
        </p:spPr>
      </p:sp>
      <p:sp>
        <p:nvSpPr>
          <p:cNvPr id="22" name="Shape 19"/>
          <p:cNvSpPr/>
          <p:nvPr/>
        </p:nvSpPr>
        <p:spPr>
          <a:xfrm>
            <a:off x="4360431" y="4069080"/>
            <a:ext cx="640080" cy="640080"/>
          </a:xfrm>
          <a:prstGeom prst="ellipse">
            <a:avLst/>
          </a:prstGeom>
          <a:solidFill>
            <a:srgbClr val="486581"/>
          </a:solidFill>
          <a:ln/>
        </p:spPr>
      </p:sp>
      <p:pic>
        <p:nvPicPr>
          <p:cNvPr id="23" name="Image 1" descr="/tmp/claude-0/-home-user-paper/35649aa5-a63d-5174-99fb-73698c174eb2/scratchpad/deck/icon_bon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735" y="4215384"/>
            <a:ext cx="347472" cy="34747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516554" y="4846320"/>
            <a:ext cx="232783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major long bones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210148" y="3840480"/>
            <a:ext cx="2602154" cy="1965960"/>
          </a:xfrm>
          <a:prstGeom prst="roundRect">
            <a:avLst>
              <a:gd name="adj" fmla="val 4651"/>
            </a:avLst>
          </a:prstGeom>
          <a:solidFill>
            <a:srgbClr val="EEF2F6"/>
          </a:solidFill>
          <a:ln/>
        </p:spPr>
      </p:sp>
      <p:sp>
        <p:nvSpPr>
          <p:cNvPr id="26" name="Shape 22"/>
          <p:cNvSpPr/>
          <p:nvPr/>
        </p:nvSpPr>
        <p:spPr>
          <a:xfrm>
            <a:off x="7191185" y="4069080"/>
            <a:ext cx="640080" cy="640080"/>
          </a:xfrm>
          <a:prstGeom prst="ellipse">
            <a:avLst/>
          </a:prstGeom>
          <a:solidFill>
            <a:srgbClr val="486581"/>
          </a:solidFill>
          <a:ln/>
        </p:spPr>
      </p:sp>
      <p:pic>
        <p:nvPicPr>
          <p:cNvPr id="27" name="Image 2" descr="/tmp/claude-0/-home-user-paper/35649aa5-a63d-5174-99fb-73698c174eb2/scratchpad/deck/icon_screw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489" y="4215384"/>
            <a:ext cx="347472" cy="3474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47308" y="4846320"/>
            <a:ext cx="232783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Pre-op and post-op cases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9040901" y="3840480"/>
            <a:ext cx="2602154" cy="1965960"/>
          </a:xfrm>
          <a:prstGeom prst="roundRect">
            <a:avLst>
              <a:gd name="adj" fmla="val 4651"/>
            </a:avLst>
          </a:prstGeom>
          <a:solidFill>
            <a:srgbClr val="EEF2F6"/>
          </a:solidFill>
          <a:ln/>
        </p:spPr>
      </p:sp>
      <p:sp>
        <p:nvSpPr>
          <p:cNvPr id="30" name="Shape 25"/>
          <p:cNvSpPr/>
          <p:nvPr/>
        </p:nvSpPr>
        <p:spPr>
          <a:xfrm>
            <a:off x="10021938" y="4069080"/>
            <a:ext cx="640080" cy="640080"/>
          </a:xfrm>
          <a:prstGeom prst="ellipse">
            <a:avLst/>
          </a:prstGeom>
          <a:solidFill>
            <a:srgbClr val="486581"/>
          </a:solidFill>
          <a:ln/>
        </p:spPr>
      </p:sp>
      <p:pic>
        <p:nvPicPr>
          <p:cNvPr id="31" name="Image 3" descr="/tmp/claude-0/-home-user-paper/35649aa5-a63d-5174-99fb-73698c174eb2/scratchpad/deck/icon_fileme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242" y="4215384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78061" y="4846320"/>
            <a:ext cx="232783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 / PASCAL VOC / YOLO / COCO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Tibial Shaft Fracture Screening  •  Ortho AI Paper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strict, explicit screening standard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EAF6E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only if: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329184" cy="329184"/>
          </a:xfrm>
          <a:prstGeom prst="ellipse">
            <a:avLst/>
          </a:prstGeom>
          <a:solidFill>
            <a:srgbClr val="1E7B44"/>
          </a:solidFill>
          <a:ln/>
        </p:spPr>
      </p:sp>
      <p:pic>
        <p:nvPicPr>
          <p:cNvPr id="7" name="Image 0" descr="/tmp/claude-0/-home-user-paper/35649aa5-a63d-5174-99fb-73698c174eb2/scratchpad/deck/icon_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359152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231136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radiograph (AP or lateral)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2944368"/>
            <a:ext cx="329184" cy="329184"/>
          </a:xfrm>
          <a:prstGeom prst="ellipse">
            <a:avLst/>
          </a:prstGeom>
          <a:solidFill>
            <a:srgbClr val="1E7B44"/>
          </a:solidFill>
          <a:ln/>
        </p:spPr>
      </p:sp>
      <p:pic>
        <p:nvPicPr>
          <p:cNvPr id="10" name="Image 1" descr="/tmp/claude-0/-home-user-paper/35649aa5-a63d-5174-99fb-73698c174eb2/scratchpad/deck/icon_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01752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88950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in the tibial diaphysis — not plateau, not pilon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68680" y="3602736"/>
            <a:ext cx="329184" cy="329184"/>
          </a:xfrm>
          <a:prstGeom prst="ellipse">
            <a:avLst/>
          </a:prstGeom>
          <a:solidFill>
            <a:srgbClr val="1E7B44"/>
          </a:solidFill>
          <a:ln/>
        </p:spPr>
      </p:sp>
      <p:pic>
        <p:nvPicPr>
          <p:cNvPr id="13" name="Image 2" descr="/tmp/claude-0/-home-user-paper/35649aa5-a63d-5174-99fb-73698c174eb2/scratchpad/deck/icon_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675888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54787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Skeletally mature (adult) patient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68680" y="4261104"/>
            <a:ext cx="329184" cy="329184"/>
          </a:xfrm>
          <a:prstGeom prst="ellipse">
            <a:avLst/>
          </a:prstGeom>
          <a:solidFill>
            <a:srgbClr val="1E7B44"/>
          </a:solidFill>
          <a:ln/>
        </p:spPr>
      </p:sp>
      <p:pic>
        <p:nvPicPr>
          <p:cNvPr id="16" name="Image 3" descr="/tmp/claude-0/-home-user-paper/35649aa5-a63d-5174-99fb-73698c174eb2/scratchpad/deck/icon_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334256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420624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hardware, no cast, not post-operative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68680" y="4919472"/>
            <a:ext cx="329184" cy="329184"/>
          </a:xfrm>
          <a:prstGeom prst="ellipse">
            <a:avLst/>
          </a:prstGeom>
          <a:solidFill>
            <a:srgbClr val="1E7B44"/>
          </a:solidFill>
          <a:ln/>
        </p:spPr>
      </p:sp>
      <p:pic>
        <p:nvPicPr>
          <p:cNvPr id="19" name="Image 4" descr="/tmp/claude-0/-home-user-paper/35649aa5-a63d-5174-99fb-73698c174eb2/scratchpad/deck/icon_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992624"/>
            <a:ext cx="182880" cy="1828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5880" y="486460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shaft visible — proximal + distal segments, sharp cortex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172200" y="160020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BEAEA"/>
          </a:solidFill>
          <a:ln/>
        </p:spPr>
      </p:sp>
      <p:sp>
        <p:nvSpPr>
          <p:cNvPr id="22" name="Text 15"/>
          <p:cNvSpPr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if any: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492240" y="2286000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4" name="Image 5" descr="/tmp/claude-0/-home-user-paper/35649aa5-a63d-5174-99fb-73698c174eb2/scratchpad/deck/icon_times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2359152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49440" y="2231136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hardware, cast, or post-op change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6492240" y="2944368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7" name="Image 6" descr="/tmp/claude-0/-home-user-paper/35649aa5-a63d-5174-99fb-73698c174eb2/scratchpad/deck/icon_times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392" y="3017520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49440" y="288950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or pilon fracture location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6492240" y="3602736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0" name="Image 7" descr="/tmp/claude-0/-home-user-paper/35649aa5-a63d-5174-99fb-73698c174eb2/scratchpad/deck/icon_times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5392" y="3675888"/>
            <a:ext cx="182880" cy="18288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949440" y="354787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/ open growth plates</a:t>
            </a:r>
            <a:endParaRPr lang="en-US" sz="1300" dirty="0"/>
          </a:p>
        </p:txBody>
      </p:sp>
      <p:sp>
        <p:nvSpPr>
          <p:cNvPr id="32" name="Shape 22"/>
          <p:cNvSpPr/>
          <p:nvPr/>
        </p:nvSpPr>
        <p:spPr>
          <a:xfrm>
            <a:off x="6492240" y="4261104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3" name="Image 8" descr="/tmp/claude-0/-home-user-paper/35649aa5-a63d-5174-99fb-73698c174eb2/scratchpad/deck/icon_times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5392" y="4334256"/>
            <a:ext cx="182880" cy="18288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949440" y="420624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quality: cropped, rotated, obscured</a:t>
            </a:r>
            <a:endParaRPr lang="en-US" sz="1300" dirty="0"/>
          </a:p>
        </p:txBody>
      </p:sp>
      <p:sp>
        <p:nvSpPr>
          <p:cNvPr id="35" name="Shape 24"/>
          <p:cNvSpPr/>
          <p:nvPr/>
        </p:nvSpPr>
        <p:spPr>
          <a:xfrm>
            <a:off x="6492240" y="4919472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6" name="Image 9" descr="/tmp/claude-0/-home-user-paper/35649aa5-a63d-5174-99fb-73698c174eb2/scratchpad/deck/icon_times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5392" y="4992624"/>
            <a:ext cx="182880" cy="18288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949440" y="486460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/ MRI / fluoroscopy, or fibula-only fracture</a:t>
            </a:r>
            <a:endParaRPr lang="en-US" sz="1300" dirty="0"/>
          </a:p>
        </p:txBody>
      </p:sp>
      <p:sp>
        <p:nvSpPr>
          <p:cNvPr id="38" name="Text 26"/>
          <p:cNvSpPr/>
          <p:nvPr/>
        </p:nvSpPr>
        <p:spPr>
          <a:xfrm>
            <a:off x="54864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any uncertainty → exclude. No borderline calls.</a:t>
            </a:r>
            <a:endParaRPr lang="en-US" sz="1200" dirty="0"/>
          </a:p>
        </p:txBody>
      </p:sp>
      <p:sp>
        <p:nvSpPr>
          <p:cNvPr id="3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Tibial Shaft Fracture Screening  •  Ortho AI Paper</a:t>
            </a:r>
            <a:endParaRPr lang="en-US" sz="900" dirty="0"/>
          </a:p>
        </p:txBody>
      </p:sp>
      <p:sp>
        <p:nvSpPr>
          <p:cNvPr id="40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auditable, reproducible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99284" cy="3566160"/>
          </a:xfrm>
          <a:prstGeom prst="roundRect">
            <a:avLst>
              <a:gd name="adj" fmla="val 3659"/>
            </a:avLst>
          </a:prstGeom>
          <a:solidFill>
            <a:srgbClr val="102A4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86802" y="25146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tmp/claude-0/-home-user-paper/35649aa5-a63d-5174-99fb-73698c174eb2/scratchpad/deck/icon_database_102A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682" y="2697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520440"/>
            <a:ext cx="21335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931920"/>
            <a:ext cx="20420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3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4,082 images + annotation files version-controlled in a git repository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047924" y="32461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3413684" y="1828800"/>
            <a:ext cx="2499284" cy="3566160"/>
          </a:xfrm>
          <a:prstGeom prst="roundRect">
            <a:avLst>
              <a:gd name="adj" fmla="val 3659"/>
            </a:avLst>
          </a:prstGeom>
          <a:solidFill>
            <a:srgbClr val="486581"/>
          </a:solidFill>
          <a:ln/>
        </p:spPr>
      </p:sp>
      <p:sp>
        <p:nvSpPr>
          <p:cNvPr id="12" name="Text 9"/>
          <p:cNvSpPr/>
          <p:nvPr/>
        </p:nvSpPr>
        <p:spPr>
          <a:xfrm>
            <a:off x="3642284" y="1965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251846" y="25146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tmp/claude-0/-home-user-paper/35649aa5-a63d-5174-99fb-73698c174eb2/scratchpad/deck/icon_xray_102A4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726" y="26974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96564" y="3520440"/>
            <a:ext cx="21335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42284" y="3931920"/>
            <a:ext cx="20420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3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visually assessed image-by-image against the fixed criteria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912968" y="32461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6278728" y="1828800"/>
            <a:ext cx="2499284" cy="3566160"/>
          </a:xfrm>
          <a:prstGeom prst="roundRect">
            <a:avLst>
              <a:gd name="adj" fmla="val 3659"/>
            </a:avLst>
          </a:prstGeom>
          <a:solidFill>
            <a:srgbClr val="102A43"/>
          </a:solidFill>
          <a:ln/>
        </p:spPr>
      </p:sp>
      <p:sp>
        <p:nvSpPr>
          <p:cNvPr id="19" name="Text 15"/>
          <p:cNvSpPr/>
          <p:nvPr/>
        </p:nvSpPr>
        <p:spPr>
          <a:xfrm>
            <a:off x="6507328" y="1965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7116890" y="25146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/tmp/claude-0/-home-user-paper/35649aa5-a63d-5174-99fb-73698c174eb2/scratchpad/deck/icon_clipboard_102A4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770" y="269748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61608" y="3520440"/>
            <a:ext cx="21335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507328" y="3931920"/>
            <a:ext cx="20420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3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Decision, fracture site, view, hardware, quality &amp; confidence recorded per image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778011" y="32461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25" name="Shape 20"/>
          <p:cNvSpPr/>
          <p:nvPr/>
        </p:nvSpPr>
        <p:spPr>
          <a:xfrm>
            <a:off x="9143771" y="1828800"/>
            <a:ext cx="2499284" cy="3566160"/>
          </a:xfrm>
          <a:prstGeom prst="roundRect">
            <a:avLst>
              <a:gd name="adj" fmla="val 3659"/>
            </a:avLst>
          </a:prstGeom>
          <a:solidFill>
            <a:srgbClr val="486581"/>
          </a:solidFill>
          <a:ln/>
        </p:spPr>
      </p:sp>
      <p:sp>
        <p:nvSpPr>
          <p:cNvPr id="26" name="Text 21"/>
          <p:cNvSpPr/>
          <p:nvPr/>
        </p:nvSpPr>
        <p:spPr>
          <a:xfrm>
            <a:off x="9372371" y="1965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9981933" y="25146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3" descr="/tmp/claude-0/-home-user-paper/35649aa5-a63d-5174-99fb-73698c174eb2/scratchpad/deck/icon_branch_102A4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4813" y="2697480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326651" y="3520440"/>
            <a:ext cx="21335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372371" y="3931920"/>
            <a:ext cx="20420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3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batch committed to git — full history, fully reproducible, fully traceable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548640" y="5623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image is auto-included. No image is auto-excluded without a stated, specific reason.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Tibial Shaft Fracture Screening  •  Ortho AI Paper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RESULTS  —  SCREENING IN PROGRESS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finding so far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46120" cy="1554480"/>
          </a:xfrm>
          <a:prstGeom prst="roundRect">
            <a:avLst>
              <a:gd name="adj" fmla="val 5882"/>
            </a:avLst>
          </a:prstGeom>
          <a:solidFill>
            <a:srgbClr val="EEF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261 / 714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screened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(~37% complete)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69080" y="1554480"/>
            <a:ext cx="3246120" cy="1554480"/>
          </a:xfrm>
          <a:prstGeom prst="roundRect">
            <a:avLst>
              <a:gd name="adj" fmla="val 5882"/>
            </a:avLst>
          </a:prstGeom>
          <a:solidFill>
            <a:srgbClr val="EEF2F6"/>
          </a:solidFill>
          <a:ln/>
        </p:spPr>
      </p:sp>
      <p:sp>
        <p:nvSpPr>
          <p:cNvPr id="8" name="Text 6"/>
          <p:cNvSpPr/>
          <p:nvPr/>
        </p:nvSpPr>
        <p:spPr>
          <a:xfrm>
            <a:off x="4069080" y="16916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206240" y="23774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tibia/fibula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found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0" y="1554480"/>
            <a:ext cx="3246120" cy="1554480"/>
          </a:xfrm>
          <a:prstGeom prst="roundRect">
            <a:avLst>
              <a:gd name="adj" fmla="val 5882"/>
            </a:avLst>
          </a:prstGeom>
          <a:solidFill>
            <a:srgbClr val="F0B429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16916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726680" y="23774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every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criterion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tibia-positive images still get excluded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48640" y="3794760"/>
          <a:ext cx="100584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Tibial Shaft Fracture Screening  •  Ortho AI Paper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screening yield is the 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206240" cy="3931920"/>
          </a:xfrm>
          <a:prstGeom prst="roundRect">
            <a:avLst>
              <a:gd name="adj" fmla="val 2791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3172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~1%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3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images labeled “fractured” so far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3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every criterion for a clean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3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tibial-shaft study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12080" y="2103120"/>
            <a:ext cx="6035040" cy="1143000"/>
          </a:xfrm>
          <a:prstGeom prst="roundRect">
            <a:avLst>
              <a:gd name="adj" fmla="val 6400"/>
            </a:avLst>
          </a:prstGeom>
          <a:solidFill>
            <a:srgbClr val="48658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0" y="2221992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“orthopedic fracture” datasets are frequently multi-site, multi-age, and multi-fracture-pattern — far broader than their labels imply.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12080" y="3474720"/>
            <a:ext cx="6035040" cy="1143000"/>
          </a:xfrm>
          <a:prstGeom prst="roundRect">
            <a:avLst>
              <a:gd name="adj" fmla="val 6400"/>
            </a:avLst>
          </a:prstGeom>
          <a:solidFill>
            <a:srgbClr val="48658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593592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half of excluded tibia/fibula images were disqualified only by post-operative hardware, not by anatomy.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12080" y="4846320"/>
            <a:ext cx="6035040" cy="1143000"/>
          </a:xfrm>
          <a:prstGeom prst="roundRect">
            <a:avLst>
              <a:gd name="adj" fmla="val 6400"/>
            </a:avLst>
          </a:prstGeom>
          <a:solidFill>
            <a:srgbClr val="48658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4965192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is rarely quantified or reported — and is itself a reproducible, citable methodological contribution.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Tibial Shaft Fracture Screening  •  Ortho AI Paper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PUBLICATION FIT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is headed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94360" cy="594360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5" name="Image 0" descr="/tmp/claude-0/-home-user-paper/35649aa5-a63d-5174-99fb-73698c174eb2/scratchpad/deck/icon_flask_102A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20985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4767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screen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231343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714 fracture-positive images; lock the final N and dataset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594360" cy="594360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9" name="Image 1" descr="/tmp/claude-0/-home-user-paper/35649aa5-a63d-5174-99fb-73698c174eb2/scratchpad/deck/icon_chart_102A4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" y="315010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9992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pipeline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71600" y="336499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criteria, exclusion breakdown, and audit trail as a methods contribution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594360" cy="594360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3" name="Image 2" descr="/tmp/claude-0/-home-user-paper/35649aa5-a63d-5174-99fb-73698c174eb2/scratchpad/deck/icon_bone_102A4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420166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0507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downstream use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71600" y="441655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the curated set for detection-model training and external validation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366760" y="1965960"/>
            <a:ext cx="3246120" cy="3840480"/>
          </a:xfrm>
          <a:prstGeom prst="roundRect">
            <a:avLst>
              <a:gd name="adj" fmla="val 2817"/>
            </a:avLst>
          </a:prstGeom>
          <a:solidFill>
            <a:srgbClr val="1E3A5F"/>
          </a:solidFill>
          <a:ln/>
        </p:spPr>
      </p:sp>
      <p:sp>
        <p:nvSpPr>
          <p:cNvPr id="17" name="Text 12"/>
          <p:cNvSpPr/>
          <p:nvPr/>
        </p:nvSpPr>
        <p:spPr>
          <a:xfrm>
            <a:off x="8595360" y="21945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BETTER JOURNAL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595360" y="260604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3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and transparency — explicit criteria, per-image reasoning, and a full version-controlled audit trail — are exactly what data-quality and methods reviewers look for.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Tibial Shaft Fracture Screening  •  Ortho AI Paper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2026-08-14T20:53:31Z</dcterms:created>
  <dcterms:modified xsi:type="dcterms:W3CDTF">2026-08-14T20:53:31Z</dcterms:modified>
</cp:coreProperties>
</file>